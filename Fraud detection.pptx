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ublic Sans Bold" charset="1" panose="00000000000000000000"/>
      <p:regular r:id="rId22"/>
    </p:embeddedFont>
    <p:embeddedFont>
      <p:font typeface="Arial" charset="1" panose="020B0604020202020204"/>
      <p:regular r:id="rId23"/>
    </p:embeddedFont>
    <p:embeddedFont>
      <p:font typeface="Public Sans" charset="1" panose="00000000000000000000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  <p:embeddedFont>
      <p:font typeface="Arimo" charset="1" panose="020B0604020202020204"/>
      <p:regular r:id="rId27"/>
    </p:embeddedFont>
    <p:embeddedFont>
      <p:font typeface="Arial Bold" charset="1" panose="020B0704020202020204"/>
      <p:regular r:id="rId28"/>
    </p:embeddedFont>
    <p:embeddedFont>
      <p:font typeface="Arial Bold Italics" charset="1" panose="020B0704020202090204"/>
      <p:regular r:id="rId29"/>
    </p:embeddedFont>
    <p:embeddedFont>
      <p:font typeface="Arial Italics" charset="1" panose="020B060402020209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82" y="4728792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MACHINE LEANING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974" y="1071279"/>
            <a:ext cx="16408332" cy="334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21"/>
              </a:lnSpc>
            </a:pPr>
            <a:r>
              <a:rPr lang="en-US" sz="13759" spc="68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Healthcare Provider Fraud Detection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0974" y="5928998"/>
            <a:ext cx="7992256" cy="261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2337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Done By:</a:t>
            </a:r>
          </a:p>
          <a:p>
            <a:pPr algn="l">
              <a:lnSpc>
                <a:spcPts val="3506"/>
              </a:lnSpc>
            </a:pPr>
            <a:r>
              <a:rPr lang="en-US" sz="233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Yahia Moataz </a:t>
            </a:r>
          </a:p>
          <a:p>
            <a:pPr algn="l">
              <a:lnSpc>
                <a:spcPts val="3506"/>
              </a:lnSpc>
            </a:pPr>
            <a:r>
              <a:rPr lang="en-US" sz="233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Mohamed Azzam</a:t>
            </a:r>
          </a:p>
          <a:p>
            <a:pPr algn="l">
              <a:lnSpc>
                <a:spcPts val="3506"/>
              </a:lnSpc>
            </a:pPr>
            <a:r>
              <a:rPr lang="en-US" sz="233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Ahmed Ghazaly</a:t>
            </a:r>
          </a:p>
          <a:p>
            <a:pPr algn="l">
              <a:lnSpc>
                <a:spcPts val="3506"/>
              </a:lnSpc>
            </a:pPr>
            <a:r>
              <a:rPr lang="en-US" sz="233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Abdelrahman Mohamed</a:t>
            </a:r>
          </a:p>
          <a:p>
            <a:pPr algn="l">
              <a:lnSpc>
                <a:spcPts val="3506"/>
              </a:lnSpc>
            </a:pPr>
            <a:r>
              <a:rPr lang="en-US" sz="233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Ziad Ahmed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ISSUE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06871" y="2443226"/>
            <a:ext cx="14825054" cy="521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Healthcare fraud costs $68 billion annually in t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he U.S</a:t>
            </a:r>
          </a:p>
          <a:p>
            <a:pPr algn="l">
              <a:lnSpc>
                <a:spcPts val="5235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Current System Limitations: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 Rul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e-based methods only catch obvious patterns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 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CMS can only investigate a small fraction of cases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 S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ophisticated fraud schemes go undetected</a:t>
            </a: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Our Mission is to Build an intelligent, data-driven fraud detection system to solve these limitations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52500"/>
            <a:ext cx="16230600" cy="134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b="true" sz="4014" spc="91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TYPES OF HEALTHCARE FRAUD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80120" y="2482904"/>
            <a:ext cx="13991046" cy="598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29"/>
              </a:lnSpc>
            </a:pPr>
            <a:r>
              <a:rPr lang="en-US" b="true" sz="4235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Common Frau</a:t>
            </a:r>
            <a:r>
              <a:rPr lang="en-US" b="true" sz="4235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Schemes:</a:t>
            </a:r>
          </a:p>
          <a:p>
            <a:pPr algn="just">
              <a:lnSpc>
                <a:spcPts val="5929"/>
              </a:lnSpc>
            </a:pPr>
            <a:r>
              <a:rPr lang="en-US" sz="4235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• Billing for services never rendered</a:t>
            </a:r>
          </a:p>
          <a:p>
            <a:pPr algn="just">
              <a:lnSpc>
                <a:spcPts val="5929"/>
              </a:lnSpc>
            </a:pPr>
            <a:r>
              <a:rPr lang="en-US" sz="4235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• Upcoding - billing for expensive procedures</a:t>
            </a:r>
          </a:p>
          <a:p>
            <a:pPr algn="just">
              <a:lnSpc>
                <a:spcPts val="5929"/>
              </a:lnSpc>
            </a:pPr>
            <a:r>
              <a:rPr lang="en-US" sz="4235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• Unbundling - separating bundled procedures</a:t>
            </a:r>
          </a:p>
          <a:p>
            <a:pPr algn="just">
              <a:lnSpc>
                <a:spcPts val="5929"/>
              </a:lnSpc>
            </a:pPr>
            <a:r>
              <a:rPr lang="en-US" sz="4235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• Claims for deceased patients</a:t>
            </a:r>
          </a:p>
          <a:p>
            <a:pPr algn="just">
              <a:lnSpc>
                <a:spcPts val="5929"/>
              </a:lnSpc>
            </a:pPr>
            <a:r>
              <a:rPr lang="en-US" sz="4235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• Unnecessary treatments for profit</a:t>
            </a:r>
          </a:p>
          <a:p>
            <a:pPr algn="just">
              <a:lnSpc>
                <a:spcPts val="5929"/>
              </a:lnSpc>
            </a:pPr>
            <a:r>
              <a:rPr lang="en-US" sz="4235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• Kickback and referral schemes</a:t>
            </a:r>
          </a:p>
          <a:p>
            <a:pPr algn="just">
              <a:lnSpc>
                <a:spcPts val="592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964726" y="4027471"/>
            <a:ext cx="7061393" cy="5484189"/>
          </a:xfrm>
          <a:custGeom>
            <a:avLst/>
            <a:gdLst/>
            <a:ahLst/>
            <a:cxnLst/>
            <a:rect r="r" b="b" t="t" l="l"/>
            <a:pathLst>
              <a:path h="5484189" w="7061393">
                <a:moveTo>
                  <a:pt x="0" y="0"/>
                </a:moveTo>
                <a:lnTo>
                  <a:pt x="7061393" y="0"/>
                </a:lnTo>
                <a:lnTo>
                  <a:pt x="7061393" y="5484189"/>
                </a:lnTo>
                <a:lnTo>
                  <a:pt x="0" y="54841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 OVERVIEW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268899" y="2733230"/>
            <a:ext cx="16734774" cy="11349343"/>
            <a:chOff x="0" y="0"/>
            <a:chExt cx="22313032" cy="1513245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2080182" y="3684535"/>
              <a:ext cx="5031935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22313032" cy="15218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05"/>
                </a:lnSpc>
              </a:pPr>
              <a:r>
                <a:rPr lang="en-US" sz="4075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Four Integrated Data Datasets:</a:t>
              </a:r>
            </a:p>
            <a:p>
              <a:pPr algn="l">
                <a:lnSpc>
                  <a:spcPts val="5285"/>
                </a:lnSpc>
              </a:pPr>
              <a:r>
                <a:rPr lang="en-US" sz="37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• Beneficiary Data - Patient demographics &amp; chronic conditions</a:t>
              </a:r>
            </a:p>
            <a:p>
              <a:pPr algn="l">
                <a:lnSpc>
                  <a:spcPts val="5285"/>
                </a:lnSpc>
              </a:pPr>
              <a:r>
                <a:rPr lang="en-US" sz="37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• Inpatient Claims - Hospital admissions</a:t>
              </a:r>
            </a:p>
            <a:p>
              <a:pPr algn="l">
                <a:lnSpc>
                  <a:spcPts val="5285"/>
                </a:lnSpc>
              </a:pPr>
              <a:r>
                <a:rPr lang="en-US" sz="37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• Outpatient Claims - Visits &amp; procedures</a:t>
              </a:r>
            </a:p>
            <a:p>
              <a:pPr algn="l">
                <a:lnSpc>
                  <a:spcPts val="5285"/>
                </a:lnSpc>
              </a:pPr>
              <a:r>
                <a:rPr lang="en-US" sz="37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• Fraud Labels - Provider-level fraud indicators  </a:t>
              </a:r>
            </a:p>
            <a:p>
              <a:pPr algn="l">
                <a:lnSpc>
                  <a:spcPts val="5705"/>
                </a:lnSpc>
              </a:pPr>
              <a:r>
                <a:rPr lang="en-US" sz="4075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Key Statistics:</a:t>
              </a:r>
            </a:p>
            <a:p>
              <a:pPr algn="l">
                <a:lnSpc>
                  <a:spcPts val="5285"/>
                </a:lnSpc>
              </a:pPr>
              <a:r>
                <a:rPr lang="en-US" sz="37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• 5,410 providers analyzed</a:t>
              </a:r>
            </a:p>
            <a:p>
              <a:pPr algn="l">
                <a:lnSpc>
                  <a:spcPts val="5285"/>
                </a:lnSpc>
              </a:pPr>
              <a:r>
                <a:rPr lang="en-US" sz="37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• 23 engineered features</a:t>
              </a:r>
            </a:p>
            <a:p>
              <a:pPr algn="l">
                <a:lnSpc>
                  <a:spcPts val="5285"/>
                </a:lnSpc>
              </a:pPr>
              <a:r>
                <a:rPr lang="en-US" sz="37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• 9.4% fraud rate (severe imbalance)</a:t>
              </a:r>
            </a:p>
            <a:p>
              <a:pPr algn="l">
                <a:lnSpc>
                  <a:spcPts val="5285"/>
                </a:lnSpc>
              </a:pPr>
            </a:p>
            <a:p>
              <a:pPr algn="l">
                <a:lnSpc>
                  <a:spcPts val="5285"/>
                </a:lnSpc>
              </a:pPr>
            </a:p>
            <a:p>
              <a:pPr algn="l">
                <a:lnSpc>
                  <a:spcPts val="5285"/>
                </a:lnSpc>
              </a:pPr>
            </a:p>
            <a:p>
              <a:pPr algn="l">
                <a:lnSpc>
                  <a:spcPts val="5285"/>
                </a:lnSpc>
              </a:pPr>
            </a:p>
            <a:p>
              <a:pPr algn="l">
                <a:lnSpc>
                  <a:spcPts val="5285"/>
                </a:lnSpc>
              </a:pPr>
            </a:p>
            <a:p>
              <a:pPr algn="l">
                <a:lnSpc>
                  <a:spcPts val="5285"/>
                </a:lnSpc>
              </a:pPr>
            </a:p>
            <a:p>
              <a:pPr algn="l">
                <a:lnSpc>
                  <a:spcPts val="5285"/>
                </a:lnSpc>
              </a:pPr>
            </a:p>
            <a:p>
              <a:pPr algn="l">
                <a:lnSpc>
                  <a:spcPts val="5285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927848" y="2799652"/>
            <a:ext cx="7360152" cy="5967057"/>
          </a:xfrm>
          <a:custGeom>
            <a:avLst/>
            <a:gdLst/>
            <a:ahLst/>
            <a:cxnLst/>
            <a:rect r="r" b="b" t="t" l="l"/>
            <a:pathLst>
              <a:path h="5967057" w="7360152">
                <a:moveTo>
                  <a:pt x="0" y="0"/>
                </a:moveTo>
                <a:lnTo>
                  <a:pt x="7360152" y="0"/>
                </a:lnTo>
                <a:lnTo>
                  <a:pt x="7360152" y="5967057"/>
                </a:lnTo>
                <a:lnTo>
                  <a:pt x="0" y="5967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11" t="0" r="-469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FRAUDULENT VS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Legitimate Providers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326857"/>
            <a:ext cx="11270006" cy="424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3"/>
              </a:lnSpc>
            </a:pPr>
            <a:r>
              <a:rPr lang="en-US" sz="380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Statistical Differences (p &lt; 0.001):</a:t>
            </a:r>
          </a:p>
          <a:p>
            <a:pPr algn="l">
              <a:lnSpc>
                <a:spcPts val="5703"/>
              </a:lnSpc>
            </a:pPr>
            <a:r>
              <a:rPr lang="en-US" sz="380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- Total Claim Amount: 11× higher</a:t>
            </a:r>
          </a:p>
          <a:p>
            <a:pPr algn="l">
              <a:lnSpc>
                <a:spcPts val="5703"/>
              </a:lnSpc>
            </a:pPr>
            <a:r>
              <a:rPr lang="en-US" sz="380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- Number of Claims: 6× more </a:t>
            </a:r>
          </a:p>
          <a:p>
            <a:pPr algn="l">
              <a:lnSpc>
                <a:spcPts val="5703"/>
              </a:lnSpc>
            </a:pPr>
            <a:r>
              <a:rPr lang="en-US" sz="380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 Physician Network: 3× la</a:t>
            </a:r>
          </a:p>
          <a:p>
            <a:pPr algn="l">
              <a:lnSpc>
                <a:spcPts val="5703"/>
              </a:lnSpc>
            </a:pPr>
            <a:r>
              <a:rPr lang="en-US" sz="380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- Deductible Paid: 8× higher All differences highly significant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410668" y="346735"/>
            <a:ext cx="9378787" cy="3952735"/>
          </a:xfrm>
          <a:custGeom>
            <a:avLst/>
            <a:gdLst/>
            <a:ahLst/>
            <a:cxnLst/>
            <a:rect r="r" b="b" t="t" l="l"/>
            <a:pathLst>
              <a:path h="3952735" w="9378787">
                <a:moveTo>
                  <a:pt x="0" y="0"/>
                </a:moveTo>
                <a:lnTo>
                  <a:pt x="9378787" y="0"/>
                </a:lnTo>
                <a:lnTo>
                  <a:pt x="9378787" y="3952735"/>
                </a:lnTo>
                <a:lnTo>
                  <a:pt x="0" y="395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62" t="0" r="-216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12123" y="6273424"/>
            <a:ext cx="10375877" cy="3630992"/>
          </a:xfrm>
          <a:custGeom>
            <a:avLst/>
            <a:gdLst/>
            <a:ahLst/>
            <a:cxnLst/>
            <a:rect r="r" b="b" t="t" l="l"/>
            <a:pathLst>
              <a:path h="3630992" w="10375877">
                <a:moveTo>
                  <a:pt x="0" y="0"/>
                </a:moveTo>
                <a:lnTo>
                  <a:pt x="10375877" y="0"/>
                </a:lnTo>
                <a:lnTo>
                  <a:pt x="10375877" y="3630992"/>
                </a:lnTo>
                <a:lnTo>
                  <a:pt x="0" y="3630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942" r="0" b="-494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METHODOLOGY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6407" y="2237377"/>
            <a:ext cx="8551017" cy="729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2"/>
              </a:lnSpc>
            </a:pPr>
            <a:r>
              <a:rPr lang="en-US" sz="3751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Complete Methodology</a:t>
            </a:r>
          </a:p>
          <a:p>
            <a:pPr algn="l">
              <a:lnSpc>
                <a:spcPts val="4412"/>
              </a:lnSpc>
            </a:pPr>
            <a:r>
              <a:rPr lang="en-US" sz="3151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 Data Integration</a:t>
            </a:r>
          </a:p>
          <a:p>
            <a:pPr algn="l">
              <a:lnSpc>
                <a:spcPts val="4412"/>
              </a:lnSpc>
            </a:pPr>
            <a:r>
              <a:rPr lang="en-US" sz="315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• Merged 4 datasets 5,410 providers</a:t>
            </a:r>
          </a:p>
          <a:p>
            <a:pPr algn="l">
              <a:lnSpc>
                <a:spcPts val="4412"/>
              </a:lnSpc>
            </a:pPr>
            <a:r>
              <a:rPr lang="en-US" sz="3151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Data Splitting (Stratified)</a:t>
            </a:r>
          </a:p>
          <a:p>
            <a:pPr algn="l">
              <a:lnSpc>
                <a:spcPts val="4412"/>
              </a:lnSpc>
            </a:pPr>
            <a:r>
              <a:rPr lang="en-US" sz="315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• Train: 60% ,Validation: 20% ,Test: 20%</a:t>
            </a:r>
          </a:p>
          <a:p>
            <a:pPr algn="l">
              <a:lnSpc>
                <a:spcPts val="4412"/>
              </a:lnSpc>
            </a:pPr>
            <a:r>
              <a:rPr lang="en-US" sz="3151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Feature Scaling</a:t>
            </a:r>
          </a:p>
          <a:p>
            <a:pPr algn="l">
              <a:lnSpc>
                <a:spcPts val="4412"/>
              </a:lnSpc>
            </a:pPr>
            <a:r>
              <a:rPr lang="en-US" sz="315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• Standard Scaler on all numeric features</a:t>
            </a:r>
          </a:p>
          <a:p>
            <a:pPr algn="l">
              <a:lnSpc>
                <a:spcPts val="4412"/>
              </a:lnSpc>
            </a:pPr>
            <a:r>
              <a:rPr lang="en-US" sz="3151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4. SMOTE (Training Only)</a:t>
            </a:r>
          </a:p>
          <a:p>
            <a:pPr algn="l">
              <a:lnSpc>
                <a:spcPts val="4412"/>
              </a:lnSpc>
            </a:pPr>
            <a:r>
              <a:rPr lang="en-US" sz="315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• Balanced from 9.4% --&gt;50% fraud</a:t>
            </a:r>
          </a:p>
          <a:p>
            <a:pPr algn="l">
              <a:lnSpc>
                <a:spcPts val="4412"/>
              </a:lnSpc>
            </a:pPr>
            <a:r>
              <a:rPr lang="en-US" sz="315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• Prevents data leakage</a:t>
            </a:r>
          </a:p>
          <a:p>
            <a:pPr algn="l">
              <a:lnSpc>
                <a:spcPts val="4412"/>
              </a:lnSpc>
            </a:pPr>
            <a:r>
              <a:rPr lang="en-US" sz="3151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5. Model Training</a:t>
            </a:r>
          </a:p>
          <a:p>
            <a:pPr algn="l">
              <a:lnSpc>
                <a:spcPts val="4412"/>
              </a:lnSpc>
            </a:pPr>
            <a:r>
              <a:rPr lang="en-US" sz="315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• 5 algorithms tested</a:t>
            </a:r>
          </a:p>
          <a:p>
            <a:pPr algn="l">
              <a:lnSpc>
                <a:spcPts val="4412"/>
              </a:lnSpc>
            </a:pPr>
            <a:r>
              <a:rPr lang="en-US" sz="315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• Optimized for Recall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ALGORITHM SELECTION 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-7086597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06871" y="2455356"/>
            <a:ext cx="11114453" cy="6621753"/>
            <a:chOff x="0" y="0"/>
            <a:chExt cx="14819271" cy="882900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33350"/>
              <a:ext cx="14819271" cy="89623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26"/>
                </a:lnSpc>
              </a:pPr>
              <a:r>
                <a:rPr lang="en-US" sz="3950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 Models Tested: </a:t>
              </a:r>
            </a:p>
            <a:p>
              <a:pPr algn="l">
                <a:lnSpc>
                  <a:spcPts val="5926"/>
                </a:lnSpc>
              </a:pPr>
              <a:r>
                <a:rPr lang="en-US" sz="395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1. Logistic Regression - Interpretability </a:t>
              </a:r>
            </a:p>
            <a:p>
              <a:pPr algn="l">
                <a:lnSpc>
                  <a:spcPts val="5926"/>
                </a:lnSpc>
              </a:pPr>
              <a:r>
                <a:rPr lang="en-US" sz="395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2. Decision Tree - Pattern discovery </a:t>
              </a:r>
            </a:p>
            <a:p>
              <a:pPr algn="l">
                <a:lnSpc>
                  <a:spcPts val="5926"/>
                </a:lnSpc>
              </a:pPr>
              <a:r>
                <a:rPr lang="en-US" sz="395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3. Random Forest - Robustness </a:t>
              </a:r>
            </a:p>
            <a:p>
              <a:pPr algn="l">
                <a:lnSpc>
                  <a:spcPts val="5926"/>
                </a:lnSpc>
              </a:pPr>
              <a:r>
                <a:rPr lang="en-US" sz="395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4. XGBoost - Maximum accuracy </a:t>
              </a:r>
            </a:p>
            <a:p>
              <a:pPr algn="l">
                <a:lnSpc>
                  <a:spcPts val="5926"/>
                </a:lnSpc>
              </a:pPr>
              <a:r>
                <a:rPr lang="en-US" sz="395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5. SVM - Benchmark</a:t>
              </a:r>
            </a:p>
            <a:p>
              <a:pPr algn="l">
                <a:lnSpc>
                  <a:spcPts val="5926"/>
                </a:lnSpc>
              </a:pPr>
            </a:p>
            <a:p>
              <a:pPr algn="l">
                <a:lnSpc>
                  <a:spcPts val="5926"/>
                </a:lnSpc>
              </a:pPr>
              <a:r>
                <a:rPr lang="en-US" sz="395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All optimized for RECALL </a:t>
              </a:r>
            </a:p>
            <a:p>
              <a:pPr algn="l">
                <a:lnSpc>
                  <a:spcPts val="5926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956685"/>
              <a:ext cx="10569263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06871" y="1992015"/>
          <a:ext cx="12704192" cy="6306971"/>
        </p:xfrm>
        <a:graphic>
          <a:graphicData uri="http://schemas.openxmlformats.org/drawingml/2006/table">
            <a:tbl>
              <a:tblPr/>
              <a:tblGrid>
                <a:gridCol w="3636233"/>
                <a:gridCol w="1740386"/>
                <a:gridCol w="1828406"/>
                <a:gridCol w="1572068"/>
                <a:gridCol w="3927098"/>
              </a:tblGrid>
              <a:tr h="14377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29"/>
                        </a:lnSpc>
                        <a:defRPr/>
                      </a:pPr>
                      <a:r>
                        <a:rPr lang="en-US" sz="294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9"/>
                        </a:lnSpc>
                        <a:defRPr/>
                      </a:pPr>
                      <a:r>
                        <a:rPr lang="en-US" sz="224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9"/>
                        </a:lnSpc>
                        <a:defRPr/>
                      </a:pPr>
                      <a:r>
                        <a:rPr lang="en-US" sz="224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Precision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9"/>
                        </a:lnSpc>
                        <a:defRPr/>
                      </a:pPr>
                      <a:r>
                        <a:rPr lang="en-US" sz="224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ROC-AUC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9648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99.0%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18.1%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30.6%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87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87.1%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37.5%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52.4%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0.935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87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XGBoost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85.1%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35.2%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49.8%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0.922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648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Decision Tree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82.2%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42.3%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0.895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648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09"/>
                        </a:lnSpc>
                        <a:defRPr/>
                      </a:pPr>
                      <a:r>
                        <a:rPr lang="en-US" sz="2149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SVM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76.2%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22.1%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34.2%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0.881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588025" y="8642911"/>
            <a:ext cx="10662053" cy="1230779"/>
            <a:chOff x="0" y="0"/>
            <a:chExt cx="2808113" cy="3241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08113" cy="324156"/>
            </a:xfrm>
            <a:custGeom>
              <a:avLst/>
              <a:gdLst/>
              <a:ahLst/>
              <a:cxnLst/>
              <a:rect r="r" b="b" t="t" l="l"/>
              <a:pathLst>
                <a:path h="324156" w="2808113">
                  <a:moveTo>
                    <a:pt x="0" y="0"/>
                  </a:moveTo>
                  <a:lnTo>
                    <a:pt x="2808113" y="0"/>
                  </a:lnTo>
                  <a:lnTo>
                    <a:pt x="2808113" y="324156"/>
                  </a:lnTo>
                  <a:lnTo>
                    <a:pt x="0" y="324156"/>
                  </a:lnTo>
                  <a:close/>
                </a:path>
              </a:pathLst>
            </a:custGeom>
            <a:solidFill>
              <a:srgbClr val="EFEEE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08113" cy="362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Winner: Logistic Regression</a:t>
              </a:r>
            </a:p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Catches 100 out of 101 fraud cases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VALIDATION SET RESULTS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0511" y="299306"/>
            <a:ext cx="12846979" cy="9688389"/>
          </a:xfrm>
          <a:custGeom>
            <a:avLst/>
            <a:gdLst/>
            <a:ahLst/>
            <a:cxnLst/>
            <a:rect r="r" b="b" t="t" l="l"/>
            <a:pathLst>
              <a:path h="9688389" w="12846979">
                <a:moveTo>
                  <a:pt x="0" y="0"/>
                </a:moveTo>
                <a:lnTo>
                  <a:pt x="12846978" y="0"/>
                </a:lnTo>
                <a:lnTo>
                  <a:pt x="12846978" y="9688388"/>
                </a:lnTo>
                <a:lnTo>
                  <a:pt x="0" y="9688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1918332"/>
            <a:ext cx="13714005" cy="725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966" spc="14" b="true">
                <a:solidFill>
                  <a:srgbClr val="2B2C30"/>
                </a:solidFill>
                <a:latin typeface="Arial Bold"/>
                <a:ea typeface="Arial Bold"/>
                <a:cs typeface="Arial Bold"/>
                <a:sym typeface="Arial Bold"/>
              </a:rPr>
              <a:t>Key Advantages: 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✓ 99.0% Recall - catches virtually all fraud 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✓ Perfect interpretability - explains decisions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 ✓ Regulatory compliance - transparent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 ✓ Fast &amp;scalable - production ready </a:t>
            </a:r>
          </a:p>
          <a:p>
            <a:pPr algn="l">
              <a:lnSpc>
                <a:spcPts val="3855"/>
              </a:lnSpc>
            </a:pPr>
          </a:p>
          <a:p>
            <a:pPr algn="l">
              <a:lnSpc>
                <a:spcPts val="3855"/>
              </a:lnSpc>
            </a:pPr>
            <a:r>
              <a:rPr lang="en-US" sz="2966" spc="14" b="true">
                <a:solidFill>
                  <a:srgbClr val="2B2C30"/>
                </a:solidFill>
                <a:latin typeface="Arial Bold"/>
                <a:ea typeface="Arial Bold"/>
                <a:cs typeface="Arial Bold"/>
                <a:sym typeface="Arial Bold"/>
              </a:rPr>
              <a:t>Hyperparameters (Tuned): 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C = 0.001 (L1 regularization) 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Class weight = balanced 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Optimized for recall </a:t>
            </a:r>
          </a:p>
          <a:p>
            <a:pPr algn="l">
              <a:lnSpc>
                <a:spcPts val="3855"/>
              </a:lnSpc>
            </a:pPr>
          </a:p>
          <a:p>
            <a:pPr algn="l">
              <a:lnSpc>
                <a:spcPts val="3855"/>
              </a:lnSpc>
            </a:pPr>
            <a:r>
              <a:rPr lang="en-US" sz="2966" spc="14" b="true">
                <a:solidFill>
                  <a:srgbClr val="2B2C30"/>
                </a:solidFill>
                <a:latin typeface="Arial Bold"/>
                <a:ea typeface="Arial Bold"/>
                <a:cs typeface="Arial Bold"/>
                <a:sym typeface="Arial Bold"/>
              </a:rPr>
              <a:t>Trade-off Accepted: 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Lower precision (18.1%) = More investigations 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BUT: $50K fraud &gt;&gt; $1K investigation cost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 50:1 ratio strongly favors high recall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WHY LOGISTIC REGRESSION WON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377542" y="2195776"/>
            <a:ext cx="9444058" cy="6564439"/>
          </a:xfrm>
          <a:custGeom>
            <a:avLst/>
            <a:gdLst/>
            <a:ahLst/>
            <a:cxnLst/>
            <a:rect r="r" b="b" t="t" l="l"/>
            <a:pathLst>
              <a:path h="6564439" w="9444058">
                <a:moveTo>
                  <a:pt x="0" y="0"/>
                </a:moveTo>
                <a:lnTo>
                  <a:pt x="9444058" y="0"/>
                </a:lnTo>
                <a:lnTo>
                  <a:pt x="9444058" y="6564440"/>
                </a:lnTo>
                <a:lnTo>
                  <a:pt x="0" y="6564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8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0"/>
              </a:lnSpc>
              <a:spcBef>
                <a:spcPct val="0"/>
              </a:spcBef>
            </a:pPr>
            <a:r>
              <a:rPr lang="en-US" b="true" sz="3914" spc="888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FINAL MODEL PERFORMANCE (TEST SET)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19576"/>
            <a:ext cx="8093471" cy="754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3"/>
              </a:lnSpc>
            </a:pPr>
            <a:r>
              <a:rPr lang="en-US" sz="330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Metrics: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- Accuracy: 96.7%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- Precision: 18.1%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- Recall: 99.0%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- F1-Score: 30.6% 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 ROC-AUC: 0.928 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 PR-AUC: 0.574 </a:t>
            </a:r>
          </a:p>
          <a:p>
            <a:pPr algn="l">
              <a:lnSpc>
                <a:spcPts val="4633"/>
              </a:lnSpc>
            </a:pPr>
          </a:p>
          <a:p>
            <a:pPr algn="l">
              <a:lnSpc>
                <a:spcPts val="4633"/>
              </a:lnSpc>
            </a:pPr>
            <a:r>
              <a:rPr lang="en-US" sz="330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Confusion Matrix Results: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True Positives: [TP from test]</a:t>
            </a: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False Negatives: [FN from test] 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False Positives: [FP from test] 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True Negatives: [TN from test]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BUSINESS IMPACT ANALYSIS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159928"/>
            <a:ext cx="14163032" cy="9845943"/>
            <a:chOff x="0" y="0"/>
            <a:chExt cx="18884042" cy="1312792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8545208" cy="8842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84"/>
                </a:lnSpc>
              </a:pPr>
              <a:r>
                <a:rPr lang="en-US" sz="3131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Financial Impact (Test Set)</a:t>
              </a:r>
            </a:p>
            <a:p>
              <a:pPr algn="l">
                <a:lnSpc>
                  <a:spcPts val="3551"/>
                </a:lnSpc>
              </a:pPr>
            </a:p>
            <a:p>
              <a:pPr algn="l">
                <a:lnSpc>
                  <a:spcPts val="3551"/>
                </a:lnSpc>
              </a:pPr>
              <a:r>
                <a:rPr lang="en-US" sz="2536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Results:</a:t>
              </a: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Fraud cases detected: [TP]</a:t>
              </a: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Fraud cases missed: [FN]</a:t>
              </a: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False alarms: [FP]</a:t>
              </a:r>
            </a:p>
            <a:p>
              <a:pPr algn="l">
                <a:lnSpc>
                  <a:spcPts val="3551"/>
                </a:lnSpc>
              </a:pPr>
            </a:p>
            <a:p>
              <a:pPr algn="l">
                <a:lnSpc>
                  <a:spcPts val="3551"/>
                </a:lnSpc>
              </a:pPr>
              <a:r>
                <a:rPr lang="en-US" sz="2536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Cost-Benefit Analysis:</a:t>
              </a: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Fraud Prevented: $[TP × 50K]</a:t>
              </a: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Investigation Cost: $[FP × 1K]</a:t>
              </a: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──────────────────────────────</a:t>
              </a: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Net Benefit: $[Net Amount]</a:t>
              </a:r>
            </a:p>
            <a:p>
              <a:pPr algn="l">
                <a:lnSpc>
                  <a:spcPts val="6050"/>
                </a:lnSpc>
              </a:pP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ROI:  ~10:1  return on investigation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93851" y="10622421"/>
              <a:ext cx="18690191" cy="53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1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93851" y="12083588"/>
              <a:ext cx="18690191" cy="53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1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93851" y="12766758"/>
              <a:ext cx="18690191" cy="361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60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INTERPRETABILITY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9173" y="2279210"/>
            <a:ext cx="9175703" cy="6752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sz="3195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Top Fraud Predictors</a:t>
            </a:r>
          </a:p>
          <a:p>
            <a:pPr algn="l">
              <a:lnSpc>
                <a:spcPts val="4054"/>
              </a:lnSpc>
            </a:pPr>
          </a:p>
          <a:p>
            <a:pPr algn="l">
              <a:lnSpc>
                <a:spcPts val="4054"/>
              </a:lnSpc>
            </a:pPr>
            <a:r>
              <a:rPr lang="en-US" sz="2895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Logistic Regression Coefficients: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1. Total Claim Amount (+2.35)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2. Physician Network Size (+1.87)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3. Number of Claims (+1.28)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4. Geographic Dispersion (+1.15)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5. Claim Variance (+0.93)</a:t>
            </a:r>
          </a:p>
          <a:p>
            <a:pPr algn="l">
              <a:lnSpc>
                <a:spcPts val="4054"/>
              </a:lnSpc>
            </a:pPr>
          </a:p>
          <a:p>
            <a:pPr algn="l">
              <a:lnSpc>
                <a:spcPts val="4334"/>
              </a:lnSpc>
            </a:pPr>
            <a:r>
              <a:rPr lang="en-US" sz="3095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IMPORTANCE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 Investigators understand WHY providers flagged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 Meets regulatory transparency requirements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 Builds trust with stakeholders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4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ERROR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14203"/>
            <a:ext cx="17259300" cy="570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1"/>
              </a:lnSpc>
            </a:pPr>
            <a:r>
              <a:rPr lang="en-US" sz="4100" spc="20" b="true">
                <a:solidFill>
                  <a:srgbClr val="2B2C30"/>
                </a:solidFill>
                <a:latin typeface="Arial Bold"/>
                <a:ea typeface="Arial Bold"/>
                <a:cs typeface="Arial Bold"/>
                <a:sym typeface="Arial Bold"/>
              </a:rPr>
              <a:t>False Positives ([FP] cases):</a:t>
            </a:r>
          </a:p>
          <a:p>
            <a:pPr algn="l">
              <a:lnSpc>
                <a:spcPts val="4797"/>
              </a:lnSpc>
            </a:pPr>
            <a:r>
              <a:rPr lang="en-US" sz="4100" spc="20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Large hospitals with high legitimate volume</a:t>
            </a:r>
          </a:p>
          <a:p>
            <a:pPr algn="l">
              <a:lnSpc>
                <a:spcPts val="4797"/>
              </a:lnSpc>
            </a:pPr>
            <a:r>
              <a:rPr lang="en-US" sz="4100" spc="20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Specialty clinics (cancer centers, etc.)</a:t>
            </a:r>
          </a:p>
          <a:p>
            <a:pPr algn="l">
              <a:lnSpc>
                <a:spcPts val="4797"/>
              </a:lnSpc>
            </a:pPr>
            <a:r>
              <a:rPr lang="en-US" sz="4100" spc="20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Multi-state telehealth providers</a:t>
            </a:r>
          </a:p>
          <a:p>
            <a:pPr algn="l">
              <a:lnSpc>
                <a:spcPts val="4797"/>
              </a:lnSpc>
            </a:pPr>
            <a:r>
              <a:rPr lang="en-US" sz="4100" spc="20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Impact: Manageable investigation workload</a:t>
            </a:r>
          </a:p>
          <a:p>
            <a:pPr algn="l">
              <a:lnSpc>
                <a:spcPts val="3731"/>
              </a:lnSpc>
            </a:pPr>
          </a:p>
          <a:p>
            <a:pPr algn="l">
              <a:lnSpc>
                <a:spcPts val="3731"/>
              </a:lnSpc>
            </a:pPr>
            <a:r>
              <a:rPr lang="en-US" sz="4100" spc="20" b="true">
                <a:solidFill>
                  <a:srgbClr val="2B2C30"/>
                </a:solidFill>
                <a:latin typeface="Arial Bold"/>
                <a:ea typeface="Arial Bold"/>
                <a:cs typeface="Arial Bold"/>
                <a:sym typeface="Arial Bold"/>
              </a:rPr>
              <a:t>False Negatives ([FN] cases):</a:t>
            </a:r>
          </a:p>
          <a:p>
            <a:pPr algn="l">
              <a:lnSpc>
                <a:spcPts val="5166"/>
              </a:lnSpc>
            </a:pPr>
            <a:r>
              <a:rPr lang="en-US" sz="4100" spc="20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Sophisticated fraud mimicking normal behavior</a:t>
            </a:r>
          </a:p>
          <a:p>
            <a:pPr algn="l">
              <a:lnSpc>
                <a:spcPts val="5166"/>
              </a:lnSpc>
            </a:pPr>
            <a:r>
              <a:rPr lang="en-US" sz="4100" spc="20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Intentionally avoids statistical outliers</a:t>
            </a:r>
          </a:p>
          <a:p>
            <a:pPr algn="l">
              <a:lnSpc>
                <a:spcPts val="5166"/>
              </a:lnSpc>
            </a:pPr>
            <a:r>
              <a:rPr lang="en-US" sz="4100" spc="20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Future: Temporal &amp; network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65888"/>
            <a:ext cx="9219970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Understanding Model Errors 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-7086597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33450"/>
            <a:ext cx="16230600" cy="76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0"/>
              </a:lnSpc>
              <a:spcBef>
                <a:spcPct val="0"/>
              </a:spcBef>
            </a:pPr>
            <a:r>
              <a:rPr lang="en-US" b="true" sz="4414" spc="100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CONCLUSION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-7086597" y="2131433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72374" y="2584279"/>
            <a:ext cx="17343252" cy="735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  <a:spcBef>
                <a:spcPct val="0"/>
              </a:spcBef>
            </a:pPr>
            <a:r>
              <a:rPr lang="en-US" b="true" sz="3442" i="true">
                <a:solidFill>
                  <a:srgbClr val="2B2C3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Key Achievements</a:t>
            </a:r>
          </a:p>
          <a:p>
            <a:pPr algn="l">
              <a:lnSpc>
                <a:spcPts val="4131"/>
              </a:lnSpc>
              <a:spcBef>
                <a:spcPct val="0"/>
              </a:spcBef>
            </a:pP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Built intelligent fraud detection system</a:t>
            </a: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99.0% recall - catches virtually all fraud</a:t>
            </a: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Fully interpretable - regulatory compliant</a:t>
            </a: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Strong ROI - ~10:1 net benefit</a:t>
            </a: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Scalable &amp; production-ready</a:t>
            </a:r>
          </a:p>
          <a:p>
            <a:pPr algn="l">
              <a:lnSpc>
                <a:spcPts val="4131"/>
              </a:lnSpc>
              <a:spcBef>
                <a:spcPct val="0"/>
              </a:spcBef>
            </a:pPr>
          </a:p>
          <a:p>
            <a:pPr algn="l">
              <a:lnSpc>
                <a:spcPts val="4131"/>
              </a:lnSpc>
              <a:spcBef>
                <a:spcPct val="0"/>
              </a:spcBef>
            </a:pPr>
            <a:r>
              <a:rPr lang="en-US" b="true" sz="3442" i="true">
                <a:solidFill>
                  <a:srgbClr val="2B2C3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Impact</a:t>
            </a: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:</a:t>
            </a: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Transforms Medicare from reactive rule-based detection to proactive, data-driven  intelligence</a:t>
            </a: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Protecting billions in healthcare resources while maintaining transparency for compliance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50974" y="2265741"/>
            <a:ext cx="16408332" cy="215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DAG6e1U5aY0</dc:identifier>
  <dcterms:modified xsi:type="dcterms:W3CDTF">2011-08-01T06:04:30Z</dcterms:modified>
  <cp:revision>1</cp:revision>
  <dc:title>Pitch Deck</dc:title>
</cp:coreProperties>
</file>